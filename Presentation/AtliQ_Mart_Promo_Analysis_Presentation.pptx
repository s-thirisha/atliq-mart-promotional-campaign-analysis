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AB9BF0-2B3E-4C9B-A2A8-67B9F47369FC}" v="8" dt="2026-06-05T08:30:49.4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156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irisha S" userId="9898b2ecfe316a55" providerId="LiveId" clId="{8C150BB2-9218-488B-B012-E3F261622E26}"/>
    <pc:docChg chg="undo custSel modSld">
      <pc:chgData name="Thirisha S" userId="9898b2ecfe316a55" providerId="LiveId" clId="{8C150BB2-9218-488B-B012-E3F261622E26}" dt="2026-06-05T08:31:03.948" v="133" actId="20577"/>
      <pc:docMkLst>
        <pc:docMk/>
      </pc:docMkLst>
      <pc:sldChg chg="modSp">
        <pc:chgData name="Thirisha S" userId="9898b2ecfe316a55" providerId="LiveId" clId="{8C150BB2-9218-488B-B012-E3F261622E26}" dt="2026-06-04T11:11:37.436" v="0"/>
        <pc:sldMkLst>
          <pc:docMk/>
          <pc:sldMk cId="0" sldId="256"/>
        </pc:sldMkLst>
        <pc:spChg chg="mod">
          <ac:chgData name="Thirisha S" userId="9898b2ecfe316a55" providerId="LiveId" clId="{8C150BB2-9218-488B-B012-E3F261622E26}" dt="2026-06-04T11:11:37.436" v="0"/>
          <ac:spMkLst>
            <pc:docMk/>
            <pc:sldMk cId="0" sldId="256"/>
            <ac:spMk id="2" creationId="{00000000-0000-0000-0000-000000000000}"/>
          </ac:spMkLst>
        </pc:spChg>
        <pc:spChg chg="mod">
          <ac:chgData name="Thirisha S" userId="9898b2ecfe316a55" providerId="LiveId" clId="{8C150BB2-9218-488B-B012-E3F261622E26}" dt="2026-06-04T11:11:37.436" v="0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Thirisha S" userId="9898b2ecfe316a55" providerId="LiveId" clId="{8C150BB2-9218-488B-B012-E3F261622E26}" dt="2026-06-04T11:36:38.241" v="19" actId="20577"/>
        <pc:sldMkLst>
          <pc:docMk/>
          <pc:sldMk cId="0" sldId="257"/>
        </pc:sldMkLst>
        <pc:spChg chg="mod">
          <ac:chgData name="Thirisha S" userId="9898b2ecfe316a55" providerId="LiveId" clId="{8C150BB2-9218-488B-B012-E3F261622E26}" dt="2026-06-04T11:11:37.436" v="0"/>
          <ac:spMkLst>
            <pc:docMk/>
            <pc:sldMk cId="0" sldId="257"/>
            <ac:spMk id="2" creationId="{00000000-0000-0000-0000-000000000000}"/>
          </ac:spMkLst>
        </pc:spChg>
        <pc:spChg chg="mod">
          <ac:chgData name="Thirisha S" userId="9898b2ecfe316a55" providerId="LiveId" clId="{8C150BB2-9218-488B-B012-E3F261622E26}" dt="2026-06-04T11:36:38.241" v="19" actId="20577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Thirisha S" userId="9898b2ecfe316a55" providerId="LiveId" clId="{8C150BB2-9218-488B-B012-E3F261622E26}" dt="2026-06-04T11:39:29.861" v="123" actId="5793"/>
        <pc:sldMkLst>
          <pc:docMk/>
          <pc:sldMk cId="0" sldId="258"/>
        </pc:sldMkLst>
        <pc:spChg chg="mod">
          <ac:chgData name="Thirisha S" userId="9898b2ecfe316a55" providerId="LiveId" clId="{8C150BB2-9218-488B-B012-E3F261622E26}" dt="2026-06-04T11:11:37.436" v="0"/>
          <ac:spMkLst>
            <pc:docMk/>
            <pc:sldMk cId="0" sldId="258"/>
            <ac:spMk id="2" creationId="{00000000-0000-0000-0000-000000000000}"/>
          </ac:spMkLst>
        </pc:spChg>
        <pc:spChg chg="mod">
          <ac:chgData name="Thirisha S" userId="9898b2ecfe316a55" providerId="LiveId" clId="{8C150BB2-9218-488B-B012-E3F261622E26}" dt="2026-06-04T11:39:29.861" v="123" actId="5793"/>
          <ac:spMkLst>
            <pc:docMk/>
            <pc:sldMk cId="0" sldId="258"/>
            <ac:spMk id="3" creationId="{00000000-0000-0000-0000-000000000000}"/>
          </ac:spMkLst>
        </pc:spChg>
      </pc:sldChg>
      <pc:sldChg chg="modSp">
        <pc:chgData name="Thirisha S" userId="9898b2ecfe316a55" providerId="LiveId" clId="{8C150BB2-9218-488B-B012-E3F261622E26}" dt="2026-06-05T08:30:05.208" v="124"/>
        <pc:sldMkLst>
          <pc:docMk/>
          <pc:sldMk cId="0" sldId="259"/>
        </pc:sldMkLst>
        <pc:spChg chg="mod">
          <ac:chgData name="Thirisha S" userId="9898b2ecfe316a55" providerId="LiveId" clId="{8C150BB2-9218-488B-B012-E3F261622E26}" dt="2026-06-04T11:11:37.436" v="0"/>
          <ac:spMkLst>
            <pc:docMk/>
            <pc:sldMk cId="0" sldId="259"/>
            <ac:spMk id="2" creationId="{00000000-0000-0000-0000-000000000000}"/>
          </ac:spMkLst>
        </pc:spChg>
        <pc:spChg chg="mod">
          <ac:chgData name="Thirisha S" userId="9898b2ecfe316a55" providerId="LiveId" clId="{8C150BB2-9218-488B-B012-E3F261622E26}" dt="2026-06-05T08:30:05.208" v="124"/>
          <ac:spMkLst>
            <pc:docMk/>
            <pc:sldMk cId="0" sldId="259"/>
            <ac:spMk id="3" creationId="{00000000-0000-0000-0000-000000000000}"/>
          </ac:spMkLst>
        </pc:spChg>
      </pc:sldChg>
      <pc:sldChg chg="modSp">
        <pc:chgData name="Thirisha S" userId="9898b2ecfe316a55" providerId="LiveId" clId="{8C150BB2-9218-488B-B012-E3F261622E26}" dt="2026-06-05T08:30:17.015" v="125"/>
        <pc:sldMkLst>
          <pc:docMk/>
          <pc:sldMk cId="0" sldId="260"/>
        </pc:sldMkLst>
        <pc:spChg chg="mod">
          <ac:chgData name="Thirisha S" userId="9898b2ecfe316a55" providerId="LiveId" clId="{8C150BB2-9218-488B-B012-E3F261622E26}" dt="2026-06-04T11:11:37.436" v="0"/>
          <ac:spMkLst>
            <pc:docMk/>
            <pc:sldMk cId="0" sldId="260"/>
            <ac:spMk id="2" creationId="{00000000-0000-0000-0000-000000000000}"/>
          </ac:spMkLst>
        </pc:spChg>
        <pc:spChg chg="mod">
          <ac:chgData name="Thirisha S" userId="9898b2ecfe316a55" providerId="LiveId" clId="{8C150BB2-9218-488B-B012-E3F261622E26}" dt="2026-06-05T08:30:17.015" v="125"/>
          <ac:spMkLst>
            <pc:docMk/>
            <pc:sldMk cId="0" sldId="260"/>
            <ac:spMk id="3" creationId="{00000000-0000-0000-0000-000000000000}"/>
          </ac:spMkLst>
        </pc:spChg>
      </pc:sldChg>
      <pc:sldChg chg="modSp mod">
        <pc:chgData name="Thirisha S" userId="9898b2ecfe316a55" providerId="LiveId" clId="{8C150BB2-9218-488B-B012-E3F261622E26}" dt="2026-06-05T08:31:03.948" v="133" actId="20577"/>
        <pc:sldMkLst>
          <pc:docMk/>
          <pc:sldMk cId="0" sldId="261"/>
        </pc:sldMkLst>
        <pc:spChg chg="mod">
          <ac:chgData name="Thirisha S" userId="9898b2ecfe316a55" providerId="LiveId" clId="{8C150BB2-9218-488B-B012-E3F261622E26}" dt="2026-06-04T11:11:37.436" v="0"/>
          <ac:spMkLst>
            <pc:docMk/>
            <pc:sldMk cId="0" sldId="261"/>
            <ac:spMk id="2" creationId="{00000000-0000-0000-0000-000000000000}"/>
          </ac:spMkLst>
        </pc:spChg>
        <pc:spChg chg="mod">
          <ac:chgData name="Thirisha S" userId="9898b2ecfe316a55" providerId="LiveId" clId="{8C150BB2-9218-488B-B012-E3F261622E26}" dt="2026-06-05T08:31:03.948" v="133" actId="20577"/>
          <ac:spMkLst>
            <pc:docMk/>
            <pc:sldMk cId="0" sldId="261"/>
            <ac:spMk id="3" creationId="{00000000-0000-0000-0000-000000000000}"/>
          </ac:spMkLst>
        </pc:spChg>
      </pc:sldChg>
      <pc:sldChg chg="modSp">
        <pc:chgData name="Thirisha S" userId="9898b2ecfe316a55" providerId="LiveId" clId="{8C150BB2-9218-488B-B012-E3F261622E26}" dt="2026-06-04T11:11:37.436" v="0"/>
        <pc:sldMkLst>
          <pc:docMk/>
          <pc:sldMk cId="0" sldId="262"/>
        </pc:sldMkLst>
        <pc:spChg chg="mod">
          <ac:chgData name="Thirisha S" userId="9898b2ecfe316a55" providerId="LiveId" clId="{8C150BB2-9218-488B-B012-E3F261622E26}" dt="2026-06-04T11:11:37.436" v="0"/>
          <ac:spMkLst>
            <pc:docMk/>
            <pc:sldMk cId="0" sldId="262"/>
            <ac:spMk id="2" creationId="{00000000-0000-0000-0000-000000000000}"/>
          </ac:spMkLst>
        </pc:spChg>
        <pc:spChg chg="mod">
          <ac:chgData name="Thirisha S" userId="9898b2ecfe316a55" providerId="LiveId" clId="{8C150BB2-9218-488B-B012-E3F261622E26}" dt="2026-06-04T11:11:37.436" v="0"/>
          <ac:spMkLst>
            <pc:docMk/>
            <pc:sldMk cId="0" sldId="262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Freeform 28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lumMod val="75000"/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764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727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6435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289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270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295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6681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31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3556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964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023055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5589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288056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1896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1975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095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cxnSp>
          <p:nvCxnSpPr>
            <p:cNvPr id="7" name="Straight Connector 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65481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32" r:id="rId1"/>
    <p:sldLayoutId id="2147483833" r:id="rId2"/>
    <p:sldLayoutId id="2147483834" r:id="rId3"/>
    <p:sldLayoutId id="2147483835" r:id="rId4"/>
    <p:sldLayoutId id="2147483836" r:id="rId5"/>
    <p:sldLayoutId id="2147483837" r:id="rId6"/>
    <p:sldLayoutId id="2147483838" r:id="rId7"/>
    <p:sldLayoutId id="2147483839" r:id="rId8"/>
    <p:sldLayoutId id="2147483840" r:id="rId9"/>
    <p:sldLayoutId id="2147483841" r:id="rId10"/>
    <p:sldLayoutId id="2147483842" r:id="rId11"/>
    <p:sldLayoutId id="2147483843" r:id="rId12"/>
    <p:sldLayoutId id="2147483844" r:id="rId13"/>
    <p:sldLayoutId id="2147483845" r:id="rId14"/>
    <p:sldLayoutId id="2147483846" r:id="rId15"/>
    <p:sldLayoutId id="2147483847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AtliQ Mart Promotional Campaign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t>Objective: Evaluate festive campaign performance and identify actionable business insights.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AtliQ</a:t>
            </a:r>
            <a:r>
              <a:rPr lang="en-US" dirty="0"/>
              <a:t> Mart ran promotional campaigns during Diwali and Sankranti.</a:t>
            </a:r>
          </a:p>
          <a:p>
            <a:endParaRPr lang="en-US" dirty="0"/>
          </a:p>
          <a:p>
            <a:r>
              <a:rPr lang="en-US" dirty="0"/>
              <a:t> Management wanted to identify:</a:t>
            </a:r>
          </a:p>
          <a:p>
            <a:r>
              <a:rPr lang="en-US" dirty="0"/>
              <a:t> Campaign success</a:t>
            </a:r>
          </a:p>
          <a:p>
            <a:r>
              <a:rPr lang="en-US" dirty="0"/>
              <a:t> Best-performing promotions</a:t>
            </a:r>
          </a:p>
          <a:p>
            <a:r>
              <a:rPr lang="en-US" dirty="0"/>
              <a:t> Best-performing products and categories</a:t>
            </a:r>
          </a:p>
          <a:p>
            <a:r>
              <a:rPr lang="en-US" dirty="0"/>
              <a:t> Top cities and stores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Revenue Before : </a:t>
            </a:r>
            <a:r>
              <a:rPr lang="en-IN" dirty="0"/>
              <a:t>₹140.7M</a:t>
            </a:r>
          </a:p>
          <a:p>
            <a:r>
              <a:rPr lang="en-IN" dirty="0"/>
              <a:t>Revenue After : ₹248M</a:t>
            </a:r>
            <a:endParaRPr lang="en-US" dirty="0"/>
          </a:p>
          <a:p>
            <a:r>
              <a:rPr dirty="0"/>
              <a:t>Revenue increased by ₹107M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Units Sold Before : 209k</a:t>
            </a:r>
            <a:endParaRPr lang="en-IN" dirty="0"/>
          </a:p>
          <a:p>
            <a:r>
              <a:rPr lang="en-IN" dirty="0"/>
              <a:t>Units Sold After : 435k</a:t>
            </a:r>
          </a:p>
          <a:p>
            <a:r>
              <a:rPr dirty="0"/>
              <a:t>Units sold increased by 226K</a:t>
            </a:r>
            <a:endParaRPr lang="en-US" dirty="0"/>
          </a:p>
          <a:p>
            <a:pPr marL="0" indent="0">
              <a:buNone/>
            </a:pPr>
            <a:endParaRPr dirty="0"/>
          </a:p>
          <a:p>
            <a:r>
              <a:rPr dirty="0"/>
              <a:t>Diwali generated higher revenue</a:t>
            </a:r>
          </a:p>
          <a:p>
            <a:r>
              <a:rPr dirty="0"/>
              <a:t>Campaigns were successful overall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Promotion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₹500 Cashback generated the highest revenue uplift.</a:t>
            </a:r>
          </a:p>
          <a:p>
            <a:r>
              <a:rPr lang="en-IN" dirty="0"/>
              <a:t>BOGOF generated the highest sales volume uplift.</a:t>
            </a:r>
          </a:p>
          <a:p>
            <a:r>
              <a:rPr lang="en-IN" dirty="0"/>
              <a:t>Percentage discount promotions showed weak or negative uplift.</a:t>
            </a:r>
          </a:p>
          <a:p>
            <a:r>
              <a:rPr lang="en-IN" dirty="0"/>
              <a:t>Promotion effectiveness varied across campaigns.</a:t>
            </a:r>
          </a:p>
          <a:p>
            <a:r>
              <a:rPr lang="en-IN" dirty="0"/>
              <a:t>Customer response differed between Diwali and Sankranti.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 &amp; Category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Home Appliances recorded the highest sales uplift(264%).</a:t>
            </a:r>
          </a:p>
          <a:p>
            <a:r>
              <a:rPr lang="en-IN" dirty="0"/>
              <a:t>Combo products generated the highest revenue contribution (₹158M).</a:t>
            </a:r>
          </a:p>
          <a:p>
            <a:r>
              <a:rPr lang="en-IN" dirty="0"/>
              <a:t>BOGOF significantly increased Home Appliance sales volume.</a:t>
            </a:r>
          </a:p>
          <a:p>
            <a:r>
              <a:rPr lang="en-IN" dirty="0"/>
              <a:t>High sales growth did not always translate into high revenue growth.</a:t>
            </a:r>
          </a:p>
          <a:p>
            <a:r>
              <a:rPr lang="en-IN" dirty="0" err="1"/>
              <a:t>AtliQ</a:t>
            </a:r>
            <a:r>
              <a:rPr lang="en-IN" dirty="0"/>
              <a:t> Home Essential Combo was the strongest-performing product with 136% revenue uplift.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Store &amp; City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Bengaluru generated the highest revenue contribution (₹60M).</a:t>
            </a:r>
          </a:p>
          <a:p>
            <a:r>
              <a:rPr lang="en-IN" dirty="0"/>
              <a:t>Chennai and Hyderabad were also strong-performing markets (around ₹50M).</a:t>
            </a:r>
          </a:p>
          <a:p>
            <a:r>
              <a:rPr lang="en-IN" dirty="0"/>
              <a:t>STMYS-1, STCHE-4, and STBLR-0 delivered the highest revenue uplift.</a:t>
            </a:r>
          </a:p>
          <a:p>
            <a:r>
              <a:rPr lang="en-IN" dirty="0"/>
              <a:t>Even the lowest-performing stores achieved over 60% </a:t>
            </a:r>
            <a:r>
              <a:rPr lang="en-IN"/>
              <a:t>sales volume growth</a:t>
            </a:r>
            <a:r>
              <a:rPr lang="en-IN" dirty="0"/>
              <a:t>.</a:t>
            </a:r>
          </a:p>
          <a:p>
            <a:br>
              <a:rPr lang="en-IN" dirty="0"/>
            </a:b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Continue Cashback promotions for revenue growth</a:t>
            </a:r>
          </a:p>
          <a:p>
            <a:r>
              <a:rPr lang="en-US" dirty="0"/>
              <a:t> </a:t>
            </a:r>
            <a:r>
              <a:rPr dirty="0"/>
              <a:t>Use BOGOF for volume growth and inventory movement</a:t>
            </a:r>
          </a:p>
          <a:p>
            <a:r>
              <a:rPr dirty="0"/>
              <a:t> Reassess high-discount promotions</a:t>
            </a:r>
          </a:p>
          <a:p>
            <a:r>
              <a:rPr dirty="0"/>
              <a:t> Prioritize Combo products</a:t>
            </a:r>
          </a:p>
          <a:p>
            <a:r>
              <a:rPr dirty="0"/>
              <a:t>Test alternative promotions for Home Appliances</a:t>
            </a:r>
          </a:p>
          <a:p>
            <a:r>
              <a:rPr dirty="0"/>
              <a:t> Invest in high-performing cities and stores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34</TotalTime>
  <Words>281</Words>
  <Application>Microsoft Office PowerPoint</Application>
  <PresentationFormat>On-screen Show (4:3)</PresentationFormat>
  <Paragraphs>46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Trebuchet MS</vt:lpstr>
      <vt:lpstr>Wingdings 3</vt:lpstr>
      <vt:lpstr>Facet</vt:lpstr>
      <vt:lpstr>AtliQ Mart Promotional Campaign Analysis</vt:lpstr>
      <vt:lpstr>Problem Statement</vt:lpstr>
      <vt:lpstr>Executive Summary</vt:lpstr>
      <vt:lpstr>Promotion Analysis</vt:lpstr>
      <vt:lpstr>Product &amp; Category Insights</vt:lpstr>
      <vt:lpstr>Store &amp; City Insights</vt:lpstr>
      <vt:lpstr>Recommendations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Thirisha S</cp:lastModifiedBy>
  <cp:revision>3</cp:revision>
  <dcterms:created xsi:type="dcterms:W3CDTF">2013-01-27T09:14:16Z</dcterms:created>
  <dcterms:modified xsi:type="dcterms:W3CDTF">2026-06-05T08:31:05Z</dcterms:modified>
  <cp:category/>
</cp:coreProperties>
</file>